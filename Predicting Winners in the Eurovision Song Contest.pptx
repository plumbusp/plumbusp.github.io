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  <p:embeddedFont>
      <p:font typeface="Nunito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7561A2-60C9-411B-8830-25468D58B599}">
  <a:tblStyle styleId="{397561A2-60C9-411B-8830-25468D58B5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5.xml"/><Relationship Id="rId33" Type="http://schemas.openxmlformats.org/officeDocument/2006/relationships/font" Target="fonts/NunitoLight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NunitoLight-italic.fntdata"/><Relationship Id="rId12" Type="http://schemas.openxmlformats.org/officeDocument/2006/relationships/slide" Target="slides/slide6.xml"/><Relationship Id="rId34" Type="http://schemas.openxmlformats.org/officeDocument/2006/relationships/font" Target="fonts/NunitoLight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Nunito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9e3a2ab1574d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9e3a2ab1574d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9e3a2ab1574d8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9e3a2ab1574d8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9e3a2ab1574d8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9e3a2ab1574d8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9e3a2ab1574d8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9e3a2ab1574d8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9e3a2ab1574d8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9e3a2ab1574d8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1bbe84ef0cbd081f_8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1bbe84ef0cbd081f_8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9e3a2ab1574d8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9e3a2ab1574d8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9e3a2ab1574d8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9e3a2ab1574d8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1bbe84ef0cbd081f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1bbe84ef0cbd081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9e3a2ab1574d8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9e3a2ab1574d8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9e3a2ab1574d8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9e3a2ab1574d8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bbe84ef0cbd081f_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bbe84ef0cbd081f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9e3a2ab1574d8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9e3a2ab1574d8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Winners in the Eurovision Song Contest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9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Anna-Ilona Nikolaeva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 Kicker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Yauheni Zviazdou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Motivation: </a:t>
            </a:r>
            <a:r>
              <a:rPr lang="en-GB"/>
              <a:t>analyze Eurovision trends, to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733700"/>
            <a:ext cx="8520600" cy="16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</a:t>
            </a:r>
            <a:r>
              <a:rPr lang="en-GB"/>
              <a:t>upport decisions for</a:t>
            </a:r>
            <a:r>
              <a:rPr lang="en-GB"/>
              <a:t> </a:t>
            </a:r>
            <a:r>
              <a:rPr b="1" lang="en-GB">
                <a:solidFill>
                  <a:srgbClr val="3C78D8"/>
                </a:solidFill>
              </a:rPr>
              <a:t>prediction market users.</a:t>
            </a:r>
            <a:endParaRPr b="1">
              <a:solidFill>
                <a:srgbClr val="3C78D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Insights for </a:t>
            </a:r>
            <a:r>
              <a:rPr b="1" lang="en-GB">
                <a:solidFill>
                  <a:srgbClr val="3C78D8"/>
                </a:solidFill>
              </a:rPr>
              <a:t>contestants</a:t>
            </a:r>
            <a:r>
              <a:rPr lang="en-GB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Greater </a:t>
            </a:r>
            <a:r>
              <a:rPr lang="en-GB"/>
              <a:t>transparency</a:t>
            </a:r>
            <a:r>
              <a:rPr lang="en-GB"/>
              <a:t> in </a:t>
            </a:r>
            <a:r>
              <a:rPr b="1" lang="en-GB"/>
              <a:t>Eurovision</a:t>
            </a:r>
            <a:r>
              <a:rPr b="1" lang="en-GB"/>
              <a:t> </a:t>
            </a:r>
            <a:r>
              <a:rPr b="1" lang="en-GB"/>
              <a:t>trends</a:t>
            </a:r>
            <a:r>
              <a:rPr lang="en-GB"/>
              <a:t> in</a:t>
            </a:r>
            <a:r>
              <a:rPr lang="en-GB"/>
              <a:t> winners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Improved strategic decision-making for </a:t>
            </a:r>
            <a:r>
              <a:rPr b="1" lang="en-GB">
                <a:solidFill>
                  <a:srgbClr val="3C78D8"/>
                </a:solidFill>
              </a:rPr>
              <a:t>all parties.</a:t>
            </a:r>
            <a:endParaRPr b="1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7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Dataset, what we collected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789800"/>
            <a:ext cx="83781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F2328"/>
                </a:solidFill>
                <a:highlight>
                  <a:srgbClr val="FFFFFF"/>
                </a:highlight>
              </a:rPr>
              <a:t>We used half of the data from year 1956 and half from the 2008, as following: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2452225" y="129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{397561A2-60C9-411B-8830-25468D58B599}</a:tableStyleId>
              </a:tblPr>
              <a:tblGrid>
                <a:gridCol w="2413000"/>
                <a:gridCol w="1826550"/>
              </a:tblGrid>
              <a:tr h="330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Dataset / Chart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Coverage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</a:tr>
              <a:tr h="39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Age &amp; Gender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1956–2026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</a:tr>
              <a:tr h="33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Running Order &amp; Countries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1956–2026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</a:tr>
              <a:tr h="48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Language &amp; Lyrics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2008–2026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</a:tr>
              <a:tr h="6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Google Search trends (how popular </a:t>
                      </a: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searches for songs</a:t>
                      </a: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 were the day before the competition)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2008–2026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</a:tr>
              <a:tr h="64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Distance, border and languages of voting countries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Nunito Light"/>
                          <a:ea typeface="Nunito Light"/>
                          <a:cs typeface="Nunito Light"/>
                          <a:sym typeface="Nunito Light"/>
                        </a:rPr>
                        <a:t>All participant countries</a:t>
                      </a:r>
                      <a:endParaRPr sz="1200">
                        <a:latin typeface="Nunito Light"/>
                        <a:ea typeface="Nunito Light"/>
                        <a:cs typeface="Nunito Light"/>
                        <a:sym typeface="Nunito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Visualisations: Winner’s Age</a:t>
            </a:r>
            <a:endParaRPr/>
          </a:p>
        </p:txBody>
      </p:sp>
      <p:pic>
        <p:nvPicPr>
          <p:cNvPr id="74" name="Google Shape;74;p16" title="a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175" y="1096748"/>
            <a:ext cx="7809049" cy="3533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>
            <a:off x="3236105" y="1317542"/>
            <a:ext cx="693900" cy="3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Visualisations: Song </a:t>
            </a:r>
            <a:r>
              <a:rPr lang="en-GB" sz="1800">
                <a:highlight>
                  <a:srgbClr val="A4C2F4"/>
                </a:highlight>
              </a:rPr>
              <a:t>Language</a:t>
            </a:r>
            <a:r>
              <a:rPr lang="en-GB" sz="1800"/>
              <a:t> (left) and </a:t>
            </a:r>
            <a:r>
              <a:rPr lang="en-GB" sz="1800">
                <a:highlight>
                  <a:srgbClr val="A4C2F4"/>
                </a:highlight>
              </a:rPr>
              <a:t>Running Order</a:t>
            </a:r>
            <a:r>
              <a:rPr lang="en-GB" sz="1800"/>
              <a:t> (right)</a:t>
            </a:r>
            <a:endParaRPr sz="18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50" y="1563950"/>
            <a:ext cx="4141601" cy="239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2837" l="0" r="0" t="0"/>
          <a:stretch/>
        </p:blipFill>
        <p:spPr>
          <a:xfrm>
            <a:off x="4517975" y="1850325"/>
            <a:ext cx="4518374" cy="21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Visualisations: </a:t>
            </a:r>
            <a:r>
              <a:rPr lang="en-GB">
                <a:highlight>
                  <a:srgbClr val="A4C2F4"/>
                </a:highlight>
              </a:rPr>
              <a:t>Lyrics</a:t>
            </a:r>
            <a:endParaRPr>
              <a:highlight>
                <a:srgbClr val="A4C2F4"/>
              </a:highlight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354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Visualisations: Google Searches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3"/>
            <a:ext cx="9143999" cy="33151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9"/>
          <p:cNvCxnSpPr/>
          <p:nvPr/>
        </p:nvCxnSpPr>
        <p:spPr>
          <a:xfrm>
            <a:off x="445916" y="1384142"/>
            <a:ext cx="121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Prediction results: </a:t>
            </a:r>
            <a:r>
              <a:rPr lang="en-GB"/>
              <a:t>which factors matter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</a:t>
            </a:r>
            <a:r>
              <a:rPr lang="en-GB"/>
              <a:t>e first explored which factors actually matter: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3C78D8"/>
                </a:solidFill>
              </a:rPr>
              <a:t>Past points,</a:t>
            </a:r>
            <a:r>
              <a:rPr lang="en-GB"/>
              <a:t> </a:t>
            </a:r>
            <a:r>
              <a:rPr b="1" lang="en-GB">
                <a:solidFill>
                  <a:srgbClr val="3C78D8"/>
                </a:solidFill>
              </a:rPr>
              <a:t>web interest</a:t>
            </a:r>
            <a:r>
              <a:rPr lang="en-GB"/>
              <a:t> and </a:t>
            </a:r>
            <a:r>
              <a:rPr b="1" lang="en-GB">
                <a:solidFill>
                  <a:srgbClr val="3C78D8"/>
                </a:solidFill>
              </a:rPr>
              <a:t>running position</a:t>
            </a:r>
            <a:r>
              <a:rPr lang="en-GB"/>
              <a:t> usually achieved</a:t>
            </a:r>
            <a:r>
              <a:rPr lang="en-GB"/>
              <a:t> </a:t>
            </a:r>
            <a:r>
              <a:rPr b="1" lang="en-GB"/>
              <a:t>high scores</a:t>
            </a:r>
            <a:r>
              <a:rPr lang="en-GB"/>
              <a:t>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3C78D8"/>
                </a:solidFill>
              </a:rPr>
              <a:t>N</a:t>
            </a:r>
            <a:r>
              <a:rPr b="1" lang="en-GB">
                <a:solidFill>
                  <a:srgbClr val="3C78D8"/>
                </a:solidFill>
              </a:rPr>
              <a:t>eutral lyrics sentiment</a:t>
            </a:r>
            <a:r>
              <a:rPr lang="en-GB"/>
              <a:t> </a:t>
            </a:r>
            <a:r>
              <a:rPr lang="en-GB"/>
              <a:t>tended to receive </a:t>
            </a:r>
            <a:r>
              <a:rPr b="1" lang="en-GB"/>
              <a:t>lower scores</a:t>
            </a:r>
            <a:r>
              <a:rPr lang="en-GB"/>
              <a:t>. Also </a:t>
            </a:r>
            <a:r>
              <a:rPr b="1" lang="en-GB">
                <a:solidFill>
                  <a:srgbClr val="3C78D8"/>
                </a:solidFill>
              </a:rPr>
              <a:t>l</a:t>
            </a:r>
            <a:r>
              <a:rPr b="1" lang="en-GB">
                <a:solidFill>
                  <a:srgbClr val="3C78D8"/>
                </a:solidFill>
              </a:rPr>
              <a:t>onger distance</a:t>
            </a:r>
            <a:r>
              <a:rPr lang="en-GB"/>
              <a:t> </a:t>
            </a:r>
            <a:r>
              <a:rPr lang="en-GB"/>
              <a:t>between voting countries negatively influenced scoring between them.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Prediction results: test set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992503"/>
            <a:ext cx="8520600" cy="1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Top model predicted unseen event winners using exclusively training and validation data.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313" y="2262878"/>
            <a:ext cx="5405366" cy="275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Prediction results: one year out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6100"/>
            <a:ext cx="8520600" cy="2931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improvements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Better model for predictions (neural network)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</a:t>
            </a:r>
            <a:r>
              <a:rPr lang="en-GB"/>
              <a:t>rocessing actual video clips of songs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Better recognition of lyrics sentiment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Other trends informations (Twitter? :))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9657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you!😊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Prediction results: which factors matter</a:t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703"/>
            <a:ext cx="9143999" cy="3617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Visualisations: Google Searches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3204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6"/>
          <p:cNvCxnSpPr/>
          <p:nvPr/>
        </p:nvCxnSpPr>
        <p:spPr>
          <a:xfrm>
            <a:off x="577991" y="1363837"/>
            <a:ext cx="1080300" cy="3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